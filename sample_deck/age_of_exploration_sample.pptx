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MISCONCEPTIONS TO WATCH FOR:</a:t>
            </a:r>
          </a:p>
          <a:p>
            <a:r>
              <a:t>  - Exploration was peaceful discovery</a:t>
            </a:r>
          </a:p>
          <a:p/>
          <a:p>
            <a:r>
              <a:t>MID-LESSON CHECKS:</a:t>
            </a:r>
          </a:p>
          <a:p>
            <a:r>
              <a:t>  - Thumbs up/down: did sea routes cut out middlemen?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The Age of Exploration: God, Gold, and Glory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  <a:latin typeface="Calibri"/>
              </a:rPr>
              <a:t>Global History  |  Grade 9  |  45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Objective: Students will be able to explain the economic, religious, and political motives that drove…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2222"/>
                </a:solidFill>
                <a:latin typeface="Calibri"/>
              </a:rPr>
              <a:t>Caravel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86868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alibri"/>
              </a:rPr>
              <a:t>A small, fast Portuguese sailing ship…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91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2222"/>
                </a:solidFill>
                <a:latin typeface="Calibri"/>
              </a:rPr>
              <a:t>Mercantilism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9164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alibri"/>
              </a:rPr>
              <a:t>An economic theory in which a…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51460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2222"/>
                </a:solidFill>
                <a:latin typeface="Calibri"/>
              </a:rPr>
              <a:t>Columbian Exchange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1460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alibri"/>
              </a:rPr>
              <a:t>The transfer of plants, animals, people…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3375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2222"/>
                </a:solidFill>
                <a:latin typeface="Calibri"/>
              </a:rPr>
              <a:t>Conquistador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33756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222"/>
                </a:solidFill>
                <a:latin typeface="Calibri"/>
              </a:rPr>
              <a:t>A Spanish soldier-explorer who conquered territory…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Why Sail at 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Spices and gold were worth more than their…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Middlemen controlled the land routes and inflated prices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 sea route would cut out the middlemen…</a:t>
            </a:r>
          </a:p>
        </p:txBody>
      </p:sp>
      <p:pic>
        <p:nvPicPr>
          <p:cNvPr id="5" name="Picture 4" descr="caravel_ship_woodcut_15th_centu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011680"/>
            <a:ext cx="34747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The Three G's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God: spread Christianity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Gold: wealth and mercantilism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Glory: national and personal fame</a:t>
            </a:r>
          </a:p>
        </p:txBody>
      </p:sp>
      <p:pic>
        <p:nvPicPr>
          <p:cNvPr id="5" name="Picture 4" descr="spice_trade_goods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4300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New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Caravel: sailed against the wind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Compass: direction at sea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Astrolabe: latitude by the stars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The Columbian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Crops crossed both ways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Horses reshaped the Americas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Disease killed up to 90% of Indigenous people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Source: Columbus's Journal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Calibri"/>
              </a:rPr>
              <a:t>Text Excerpt | Christopher Columbus, Journal, 1492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2222"/>
                </a:solidFill>
                <a:latin typeface="Calibri"/>
              </a:rPr>
              <a:t>"Columbus eyes gold and labor on first contact"</a:t>
            </a:r>
          </a:p>
        </p:txBody>
      </p:sp>
      <p:pic>
        <p:nvPicPr>
          <p:cNvPr id="6" name="Picture 5" descr="Columbus_landing_engraving_14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57734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Source: Trade Route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Calibri"/>
              </a:rPr>
              <a:t>Map | Cartographer unknown, c. 1550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1">
                <a:solidFill>
                  <a:srgbClr val="222222"/>
                </a:solidFill>
                <a:latin typeface="Calibri"/>
              </a:rPr>
              <a:t>"A 16th-century map showing Portuguese and Spanish trade routes spanning the Atlantic, around Africa, and across…"</a:t>
            </a:r>
          </a:p>
        </p:txBody>
      </p:sp>
      <p:pic>
        <p:nvPicPr>
          <p:cNvPr id="6" name="Picture 5" descr="world_map_age_of_exploration_trade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531" y="914400"/>
            <a:ext cx="2859578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44444"/>
                </a:solidFill>
                <a:latin typeface="Calibri"/>
              </a:rPr>
              <a:t>Silver flows Potosi to Manila to China; spices return to Lisbon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Calibri"/>
              </a:rPr>
              <a:t>Q1: Using the map, explain ONE way exploration connected distant economies</a:t>
            </a:r>
          </a:p>
        </p:txBody>
      </p:sp>
      <p:pic>
        <p:nvPicPr>
          <p:cNvPr id="6" name="Picture 5" descr="exit_ticket_stimulu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15160"/>
            <a:ext cx="3474720" cy="193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444444"/>
                </a:solidFill>
                <a:latin typeface="Calibri"/>
              </a:rPr>
              <a:t>Columbus wrote that with fifty men he could subjugate the people he met and make…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377440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Calibri"/>
              </a:rPr>
              <a:t>Q2: What does this quotation reveal about European attitudes toward Indigenous peoples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